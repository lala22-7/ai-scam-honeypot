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190" y="2560320"/>
            <a:ext cx="914400" cy="914400"/>
          </a:xfrm>
          <a:prstGeom prst="ellipse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</a:defRPr>
            </a:pPr>
            <a:r>
              <a:t>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384048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Press → to continue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1463040" cy="27432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F471B6"/>
                </a:solidFill>
                <a:latin typeface="Calibri"/>
              </a:defRPr>
            </a:pPr>
            <a:r>
              <a:t>⚠  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The Evolution of Adaptive Fraud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Why blocking isn't working anymore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3108960" cy="3108960"/>
          </a:xfrm>
          <a:prstGeom prst="roundRect">
            <a:avLst/>
          </a:prstGeom>
          <a:solidFill>
            <a:srgbClr val="1A0F15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291840"/>
            <a:ext cx="502920" cy="50292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F471B6"/>
                </a:solidFill>
              </a:defRPr>
            </a:pPr>
            <a:r>
              <a:t>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Threat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891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Online scams — UPI fraud, phishing, bank scams — are becoming increasingly adaptive and sophisticated.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3108960" cy="3108960"/>
          </a:xfrm>
          <a:prstGeom prst="roundRect">
            <a:avLst/>
          </a:prstGeom>
          <a:solidFill>
            <a:srgbClr val="1A160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3291840"/>
            <a:ext cx="502920" cy="50292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FBBF24"/>
                </a:solidFill>
              </a:defRPr>
            </a:pPr>
            <a: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Static Blocklists 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891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Current security relies on blocking known bad numbers or links. Scammers simply buy new numbers and rotate.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017520"/>
            <a:ext cx="3108960" cy="3108960"/>
          </a:xfrm>
          <a:prstGeom prst="roundRect">
            <a:avLst/>
          </a:prstGeom>
          <a:solidFill>
            <a:srgbClr val="0A1A14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0" y="3291840"/>
            <a:ext cx="502920" cy="50292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34D399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977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Core Need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3891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A proactive system that actively studies scammers and extracts their operational data before they harm real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1463040" cy="27432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4D399"/>
                </a:solidFill>
                <a:latin typeface="Calibri"/>
              </a:defRPr>
            </a:pPr>
            <a:r>
              <a:t>🤖  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Introducing "Ranjeet Uncle"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27432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The Agentic Honeypot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4754880" cy="3291840"/>
          </a:xfrm>
          <a:prstGeom prst="roundRect">
            <a:avLst/>
          </a:prstGeom>
          <a:solidFill>
            <a:srgbClr val="0A121A"/>
          </a:solidFill>
          <a:ln w="12700">
            <a:solidFill>
              <a:srgbClr val="152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200400"/>
            <a:ext cx="548640" cy="548640"/>
          </a:xfrm>
          <a:prstGeom prst="ellipse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>
                <a:solidFill>
                  <a:srgbClr val="FFFFFF"/>
                </a:solidFill>
              </a:defRPr>
            </a:pPr>
            <a:r>
              <a:t>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The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Powered by custom LLM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3192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88BBDD"/>
                </a:solidFill>
                <a:latin typeface="Calibri"/>
              </a:defRPr>
            </a:pPr>
            <a:r>
              <a:t>"Arre bhai, mujhe toh samajh nahi aa raha... aap meri help kaise kar rahe ho? Mera phone chalata hi nahi sahi se..."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1206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A confused, highly talkative 65-year-old man who keeps scammers engaged for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26080"/>
            <a:ext cx="4937760" cy="96012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127248"/>
            <a:ext cx="457200" cy="45720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60A5FA"/>
                </a:solidFill>
              </a:defRPr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0632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What It 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An autonomous, AI-driven Agentic Honeypot designed to intercept and engage scammers at scale.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41648"/>
            <a:ext cx="4937760" cy="960120"/>
          </a:xfrm>
          <a:prstGeom prst="roundRect">
            <a:avLst/>
          </a:prstGeom>
          <a:solidFill>
            <a:srgbClr val="100A1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4242816"/>
            <a:ext cx="457200" cy="45720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A855F7"/>
                </a:solidFill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1788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The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4531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Waste the scammer's time — their most valuable resource — while silently extracting actionable threat intelligence.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157216"/>
            <a:ext cx="4937760" cy="960120"/>
          </a:xfrm>
          <a:prstGeom prst="roundRect">
            <a:avLst/>
          </a:prstGeom>
          <a:solidFill>
            <a:srgbClr val="1A160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358384"/>
            <a:ext cx="457200" cy="457200"/>
          </a:xfrm>
          <a:prstGeom prst="ellipse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>
                <a:solidFill>
                  <a:srgbClr val="FBBF24"/>
                </a:solidFill>
              </a:defRPr>
            </a:pPr>
            <a:r>
              <a:t>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2943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Without Breaking Cover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5686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All extraction happens invisibly in the background. The scammer never knows they're talking to a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1463040" cy="27432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60A5FA"/>
                </a:solidFill>
                <a:latin typeface="Calibri"/>
              </a:defRPr>
            </a:pPr>
            <a:r>
              <a:t>⚙  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How The System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2743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Core capabilities powering the honeypot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5029200" cy="347472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152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200400"/>
            <a:ext cx="457200" cy="457200"/>
          </a:xfrm>
          <a:prstGeom prst="ellipse">
            <a:avLst/>
          </a:prstGeom>
          <a:solidFill>
            <a:srgbClr val="0F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>
                <a:solidFill>
                  <a:srgbClr val="60A5FA"/>
                </a:solidFill>
              </a:defRPr>
            </a:pPr>
            <a: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Multi-Turn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The AI handles complex, dynamic conversations — adapting to urgency tactics, threats, emotional manipulation, and script changes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617720"/>
            <a:ext cx="4480560" cy="1554480"/>
          </a:xfrm>
          <a:prstGeom prst="roundRect">
            <a:avLst/>
          </a:prstGeom>
          <a:solidFill>
            <a:srgbClr val="050508"/>
          </a:solidFill>
          <a:ln w="12700">
            <a:solidFill>
              <a:srgbClr val="15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4754880"/>
            <a:ext cx="2926080" cy="365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5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782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8BBDD"/>
                </a:solidFill>
                <a:latin typeface="Calibri"/>
              </a:defRPr>
            </a:pPr>
            <a:r>
              <a:t>Arre beta, yeh link kya hai? Kholu?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212080"/>
            <a:ext cx="3200400" cy="3657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52395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Haan uncle jaldi kholiye warna band!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669280"/>
            <a:ext cx="3200400" cy="365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52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5696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8BBDD"/>
                </a:solidFill>
                <a:latin typeface="Calibri"/>
              </a:defRPr>
            </a:pPr>
            <a:r>
              <a:t>Band? Par mera toh SBI ka hai...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4937760" cy="1554480"/>
          </a:xfrm>
          <a:prstGeom prst="roundRect">
            <a:avLst/>
          </a:prstGeom>
          <a:solidFill>
            <a:srgbClr val="100A1A"/>
          </a:solidFill>
          <a:ln w="12700">
            <a:solidFill>
              <a:srgbClr val="201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154680"/>
            <a:ext cx="457200" cy="457200"/>
          </a:xfrm>
          <a:prstGeom prst="ellipse">
            <a:avLst/>
          </a:prstGeom>
          <a:solidFill>
            <a:srgbClr val="150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>
                <a:solidFill>
                  <a:srgbClr val="A855F7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Regex "Spy"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Runs regex pattern matching in the background of every single message to identify hidden data the scammer reveals.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09160"/>
            <a:ext cx="4937760" cy="1691640"/>
          </a:xfrm>
          <a:prstGeom prst="roundRect">
            <a:avLst/>
          </a:prstGeom>
          <a:solidFill>
            <a:srgbClr val="0A1A14"/>
          </a:solidFill>
          <a:ln w="12700">
            <a:solidFill>
              <a:srgbClr val="15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29400" y="4937760"/>
            <a:ext cx="457200" cy="457200"/>
          </a:xfrm>
          <a:prstGeom prst="ellipse">
            <a:avLst/>
          </a:prstGeom>
          <a:solidFill>
            <a:srgbClr val="0F1A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>
                <a:solidFill>
                  <a:srgbClr val="34D399"/>
                </a:solidFill>
              </a:defRPr>
            </a:pPr>
            <a: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37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Targeted 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5486400"/>
            <a:ext cx="2103120" cy="32004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5504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34D399"/>
                </a:solidFill>
                <a:latin typeface="Calibri"/>
              </a:defRPr>
            </a:pPr>
            <a:r>
              <a:t>UPI IDs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5486400"/>
            <a:ext cx="2103120" cy="32004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55046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0A5FA"/>
                </a:solidFill>
                <a:latin typeface="Calibri"/>
              </a:defRPr>
            </a:pPr>
            <a:r>
              <a:t>Bank A/C Numbers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897880"/>
            <a:ext cx="2103120" cy="32004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471B6"/>
                </a:solidFill>
                <a:latin typeface="Calibri"/>
              </a:defRPr>
            </a:pPr>
            <a:r>
              <a:t>Phishing URLs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5897880"/>
            <a:ext cx="2103120" cy="32004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98280" y="59161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BBF24"/>
                </a:solidFill>
                <a:latin typeface="Calibri"/>
              </a:defRPr>
            </a:pPr>
            <a:r>
              <a:t>Burner Numbers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1463040" cy="27432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FBBF24"/>
                </a:solidFill>
                <a:latin typeface="Calibri"/>
              </a:defRPr>
            </a:pPr>
            <a:r>
              <a:t>🏗 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FFF"/>
                </a:solidFill>
                <a:latin typeface="Calibri"/>
              </a:defRPr>
            </a:pPr>
            <a:r>
              <a:t>Production-Grade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27432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System Architecture &amp; 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2011680" cy="237744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154680"/>
            <a:ext cx="548640" cy="548640"/>
          </a:xfrm>
          <a:prstGeom prst="ellipse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60A5FA"/>
                </a:solidFill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0A5FA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Gemini 1.5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80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Speed + complex persona</a:t>
            </a:r>
            <a:br/>
            <a:r>
              <a:t>adherence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926080"/>
            <a:ext cx="2011680" cy="2377440"/>
          </a:xfrm>
          <a:prstGeom prst="roundRect">
            <a:avLst/>
          </a:prstGeom>
          <a:solidFill>
            <a:srgbClr val="0A1A14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3154680"/>
            <a:ext cx="548640" cy="548640"/>
          </a:xfrm>
          <a:prstGeom prst="ellipse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34D399"/>
                </a:solidFill>
              </a:defRPr>
            </a:pPr>
            <a:r>
              <a:t>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34D399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480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Async, high-volume</a:t>
            </a:r>
            <a:br/>
            <a:r>
              <a:t>concurrent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926080"/>
            <a:ext cx="2011680" cy="2377440"/>
          </a:xfrm>
          <a:prstGeom prst="roundRect">
            <a:avLst/>
          </a:prstGeom>
          <a:solidFill>
            <a:srgbClr val="1A0F15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60720" y="3154680"/>
            <a:ext cx="548640" cy="548640"/>
          </a:xfrm>
          <a:prstGeom prst="ellipse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F471B6"/>
                </a:solidFill>
              </a:defRPr>
            </a:pPr>
            <a: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471B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480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Real-time conversation</a:t>
            </a:r>
            <a:br/>
            <a:r>
              <a:t>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926080"/>
            <a:ext cx="2011680" cy="2377440"/>
          </a:xfrm>
          <a:prstGeom prst="roundRect">
            <a:avLst/>
          </a:prstGeom>
          <a:solidFill>
            <a:srgbClr val="100A1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0" y="3154680"/>
            <a:ext cx="548640" cy="548640"/>
          </a:xfrm>
          <a:prstGeom prst="ellipse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A855F7"/>
                </a:solidFill>
              </a:defRPr>
            </a:pPr>
            <a:r>
              <a:t>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A855F7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Webhooks + httpx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480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Stealth intel</a:t>
            </a:r>
            <a:br/>
            <a:r>
              <a:t>transmission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926080"/>
            <a:ext cx="2011680" cy="2377440"/>
          </a:xfrm>
          <a:prstGeom prst="roundRect">
            <a:avLst/>
          </a:prstGeom>
          <a:solidFill>
            <a:srgbClr val="1A160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32720" y="3154680"/>
            <a:ext cx="548640" cy="548640"/>
          </a:xfrm>
          <a:prstGeom prst="ellipse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FBBF24"/>
                </a:solidFill>
              </a:defRPr>
            </a:pPr>
            <a: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FBBF24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4805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99999"/>
                </a:solidFill>
                <a:latin typeface="Calibri"/>
              </a:defRPr>
            </a:pPr>
            <a:r>
              <a:t>Instant, consistent</a:t>
            </a:r>
            <a:br/>
            <a:r>
              <a:t>cloud deploy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669280"/>
            <a:ext cx="1645920" cy="36576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60A5FA"/>
                </a:solidFill>
                <a:latin typeface="Calibri"/>
              </a:defRPr>
            </a:pPr>
            <a:r>
              <a:t>Scammer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5669280"/>
            <a:ext cx="1645920" cy="36576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4D399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5669280"/>
            <a:ext cx="1645920" cy="36576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924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A855F7"/>
                </a:solidFill>
                <a:latin typeface="Calibri"/>
              </a:defRPr>
            </a:pPr>
            <a:r>
              <a:t>Gemini + Regex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5669280"/>
            <a:ext cx="1645920" cy="36576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47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799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471B6"/>
                </a:solidFill>
                <a:latin typeface="Calibri"/>
              </a:defRPr>
            </a:pPr>
            <a:r>
              <a:t>Webhook 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92640" y="5669280"/>
            <a:ext cx="1645920" cy="36576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FBBF24"/>
                </a:solidFill>
                <a:latin typeface="Calibri"/>
              </a:defRPr>
            </a:pPr>
            <a:r>
              <a:t>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1645920" cy="27432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A855F7"/>
                </a:solidFill>
                <a:latin typeface="Calibri"/>
              </a:defRPr>
            </a:pPr>
            <a:r>
              <a:t>🔒  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From Chat to Actionable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2743200" cy="381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The "Secret" Callback Mechanism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4754880" cy="1051560"/>
          </a:xfrm>
          <a:prstGeom prst="roundRect">
            <a:avLst/>
          </a:prstGeom>
          <a:solidFill>
            <a:srgbClr val="1A0F15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45720" cy="1051560"/>
          </a:xfrm>
          <a:prstGeom prst="roundRect">
            <a:avLst/>
          </a:prstGeom>
          <a:solidFill>
            <a:srgbClr val="F471B6"/>
          </a:solidFill>
          <a:ln w="12700">
            <a:solidFill>
              <a:srgbClr val="F47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471B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17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Detection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The moment the AI flags scamDetected = true, the stealth protocol activates.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160520"/>
            <a:ext cx="4754880" cy="1051560"/>
          </a:xfrm>
          <a:prstGeom prst="roundRect">
            <a:avLst/>
          </a:prstGeom>
          <a:solidFill>
            <a:srgbClr val="1A160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5720" cy="1051560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BBF24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The Payload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System compiles session length, extracted financial data, and agent notes into a structured JSON payload.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394960"/>
            <a:ext cx="4754880" cy="1051560"/>
          </a:xfrm>
          <a:prstGeom prst="roundRect">
            <a:avLst/>
          </a:prstGeom>
          <a:solidFill>
            <a:srgbClr val="0A1A14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5394960"/>
            <a:ext cx="45720" cy="1051560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4D3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486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The Transmission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521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Fires a mandatory 200 OK POST request to a secure evaluation endpoint — silently.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120640" cy="3611880"/>
          </a:xfrm>
          <a:prstGeom prst="roundRect">
            <a:avLst/>
          </a:prstGeom>
          <a:solidFill>
            <a:srgbClr val="050508"/>
          </a:solidFill>
          <a:ln w="12700">
            <a:solidFill>
              <a:srgbClr val="18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0" y="3063240"/>
            <a:ext cx="137160" cy="13716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66666"/>
                </a:solidFill>
                <a:latin typeface="Calibri"/>
              </a:defRPr>
            </a:pPr>
            <a:r>
              <a:t>POST /api/intel/callback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337560"/>
            <a:ext cx="4754880" cy="12700"/>
          </a:xfrm>
          <a:prstGeom prst="rect">
            <a:avLst/>
          </a:prstGeom>
          <a:solidFill>
            <a:srgbClr val="18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290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888888"/>
                </a:solidFill>
                <a:latin typeface="Consolas"/>
              </a:defRPr>
            </a:pPr>
            <a:r>
              <a:t>{</a:t>
            </a:r>
            <a:br/>
            <a:r>
              <a:t>  "session_id": "a7f3e2...b91c",</a:t>
            </a:r>
            <a:br/>
            <a:r>
              <a:t>  "scamDetected": true,</a:t>
            </a:r>
            <a:br/>
            <a:r>
              <a:t>  "session_duration_sec": 842,</a:t>
            </a:r>
            <a:br/>
            <a:r>
              <a:t>  "extracted_data": {</a:t>
            </a:r>
            <a:br/>
            <a:r>
              <a:t>    "upi_id": "scammer@paytm",</a:t>
            </a:r>
            <a:br/>
            <a:r>
              <a:t>    "bank_account": "XXXX-XXXX-4521",</a:t>
            </a:r>
            <a:br/>
            <a:r>
              <a:t>    "phishing_url": "https://sb1-secure.xyz",</a:t>
            </a:r>
            <a:br/>
            <a:r>
              <a:t>    "phone": "+91-98765XXXXX"</a:t>
            </a:r>
            <a:br/>
            <a:r>
              <a:t>  },</a:t>
            </a:r>
            <a:br/>
            <a:r>
              <a:t>  "scam_type": "upi_impersonation",</a:t>
            </a:r>
            <a:br/>
            <a:r>
              <a:t>  "agent_notes": "Urgency tactics used...",</a:t>
            </a:r>
            <a:br/>
            <a:r>
              <a:t>  "timestamp": "2025-01-15T14:32:00Z"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548640"/>
            <a:ext cx="1463040" cy="274320"/>
          </a:xfrm>
          <a:prstGeom prst="roundRect">
            <a:avLst/>
          </a:prstGeom>
          <a:solidFill>
            <a:srgbClr val="0A0A0A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4D399"/>
                </a:solidFill>
                <a:latin typeface="Calibri"/>
              </a:defRPr>
            </a:pPr>
            <a:r>
              <a:t>📈  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Inverting the Cost of Cybercrime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57400"/>
            <a:ext cx="2743200" cy="38100"/>
          </a:xfrm>
          <a:prstGeom prst="rect">
            <a:avLst/>
          </a:prstGeom>
          <a:solidFill>
            <a:srgbClr val="F47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999999"/>
                </a:solidFill>
                <a:latin typeface="Calibri"/>
              </a:defRPr>
            </a:pPr>
            <a:r>
              <a:t>Business Impact &amp;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200400" cy="2560320"/>
          </a:xfrm>
          <a:prstGeom prst="roundRect">
            <a:avLst/>
          </a:prstGeom>
          <a:solidFill>
            <a:srgbClr val="0A0F1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60A5FA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CONCURRENT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Infinite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43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Unlike a human scambaiter, our Dockerized FastAPI backend handles thousands of scammers simultaneously.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926080"/>
            <a:ext cx="3200400" cy="2560320"/>
          </a:xfrm>
          <a:prstGeom prst="roundRect">
            <a:avLst/>
          </a:prstGeom>
          <a:solidFill>
            <a:srgbClr val="100A1A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108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A855F7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703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COST PER VICTIM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Economic Disruption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343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By automating the victim, we make the scammer's operation economically unviable to run.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926080"/>
            <a:ext cx="3200400" cy="2560320"/>
          </a:xfrm>
          <a:prstGeom prst="roundRect">
            <a:avLst/>
          </a:prstGeom>
          <a:solidFill>
            <a:srgbClr val="0A1A14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108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34D399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703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66666"/>
                </a:solidFill>
                <a:latin typeface="Calibri"/>
              </a:defRPr>
            </a:pPr>
            <a:r>
              <a:t>INTEL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Proactive Defense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343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Generates a real-time database of new scammer infrastructure before it's used on actual victims.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715000"/>
            <a:ext cx="7619695" cy="822960"/>
          </a:xfrm>
          <a:prstGeom prst="roundRect">
            <a:avLst/>
          </a:prstGeom>
          <a:solidFill>
            <a:srgbClr val="0A1015"/>
          </a:solidFill>
          <a:ln w="12700">
            <a:solidFill>
              <a:srgbClr val="152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580644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 i="1">
                <a:solidFill>
                  <a:srgbClr val="AACCEE"/>
                </a:solidFill>
                <a:latin typeface="Calibri"/>
              </a:defRPr>
            </a:pPr>
            <a:r>
              <a:t>"We don't just block the scammer. We study them, exhaust them, and weaponize their own data against them."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